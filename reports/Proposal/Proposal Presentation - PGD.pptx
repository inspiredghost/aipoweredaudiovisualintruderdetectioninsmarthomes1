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79" r:id="rId5"/>
    <p:sldId id="265" r:id="rId6"/>
    <p:sldId id="266" r:id="rId7"/>
    <p:sldId id="267" r:id="rId8"/>
    <p:sldId id="268" r:id="rId9"/>
    <p:sldId id="269" r:id="rId10"/>
    <p:sldId id="270" r:id="rId11"/>
    <p:sldId id="259" r:id="rId12"/>
    <p:sldId id="26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1" r:id="rId22"/>
    <p:sldId id="262" r:id="rId23"/>
    <p:sldId id="263" r:id="rId24"/>
    <p:sldId id="26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5097" autoAdjust="0"/>
  </p:normalViewPr>
  <p:slideViewPr>
    <p:cSldViewPr snapToGrid="0">
      <p:cViewPr varScale="1">
        <p:scale>
          <a:sx n="62" d="100"/>
          <a:sy n="62" d="100"/>
        </p:scale>
        <p:origin x="14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3AFAE-6868-4C4A-8B7B-9710CCEBA9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0C397-1EB7-4BB9-8BD9-D8396E24E0C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3819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60190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772BB-18C6-7161-8E12-791E833D6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EA975-C93B-2FB6-9956-CF8579EE1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F0F79-18DA-2C9A-887D-0D05671DA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518C5-A2BC-1567-93ED-D0F95BF4E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3631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29745-F228-3509-F983-8D6C4BABD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EEF2B-5F7E-6A26-9A64-B490CBD97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F55199-FC79-AFB4-E970-C862680DC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0F0E1F-5034-7DB8-E3EA-5749F2604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3025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E037F-AB0D-6348-1F14-C42630F0E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67A37-CFC1-77F3-6B65-AD5EAA177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DAAC4D-2A53-024F-F747-AB8C1CF36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5641F-2E46-B616-5C0A-056FE01AC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741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898D8-968B-F050-4B4B-00B06A8E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8EB2A-E0C8-EE8B-CC3F-496CECBB0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330F0-5685-75B0-4A17-C535BFB03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DED7A-6FCB-1B77-F131-A2F3F33C3D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194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0119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C48D-17D5-9FBC-5490-D81E9513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5E9640-6BC8-510A-F052-ED7D013FA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3BBBC-9FA3-CF95-0752-CE4535245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9E0B6-AA7A-F9D2-CA9C-635B3D535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6785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1344F-13DD-92E5-DAA0-75BDB4732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9B5A9-C16D-8EB8-6255-5A19813F1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65232-28A7-6195-E621-0DDD18676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EF523-841A-6D41-4B88-F5F3D21C1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7911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724A4-87DE-286F-E1A0-FCBEF8887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90E67-F96B-03C4-367F-724712B30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45110-0615-8D94-59D9-2DCB10BE8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41E92-DB44-336F-FEB1-974FEA7E6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3043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9BA85-200D-133C-D62F-FA465FEBC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1974A-8A5B-78A1-51E1-A6BF63718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B52D3-FA18-80CD-290A-3862B296C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02262-AD47-7512-06B1-B880AD928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770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85E3-BD90-F276-708F-340DAB09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205BA-44C8-52DE-D99E-6B9B5C5FD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0E1CE-8757-096B-C418-CB5725883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D45B8-170B-EF59-16CB-A14CF8CDA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3747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AF7E5-3585-C39B-3854-ED91DD09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052B5-2D25-48AB-A41A-B52E877A0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50017-F823-569B-675B-0AE5D7B9A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21FB0-7C0E-7AA4-2623-E79128A8C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319191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C397-1EB7-4BB9-8BD9-D8396E24E0C7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22677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45030-62B8-A12B-2850-442334634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F0370-EA23-DA69-881F-DED0580E1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214DA-4A1B-B783-640E-E07AA10AD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A5FC-2A02-43CB-9EAC-3182F80F8C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1C54E-864B-2094-E661-672838DB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C76DF-58A6-354A-7AEF-2DF93D26B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C177-8499-44B0-AEAD-9546081BC2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2141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40B5-7EAC-280D-1DD5-EF622DF26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1958F-2571-54DC-0F44-B2B8CD6AF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A91C7-6D0D-D72C-ED6E-7E1A9494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A5FC-2A02-43CB-9EAC-3182F80F8C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1771B-0098-D852-3BFC-44947238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2586D-BF59-C630-2FE5-F484682D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C177-8499-44B0-AEAD-9546081BC2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327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180A-DF5F-FE5D-5374-60ADFD86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8C2E7-7E3F-E1E6-1C93-EEB526200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3396D-B9B7-1504-F6BD-D9F2AF9C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A5FC-2A02-43CB-9EAC-3182F80F8C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6742C-FECB-EC50-7E90-DCC3A448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1E4F7-F668-70A9-9C72-E652F798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C177-8499-44B0-AEAD-9546081BC2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6034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31A80-2C7A-727A-1B1F-EF70BB2D1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46E97-3F63-D437-3BD6-2C21495CE6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6C03F-758C-01EE-5864-548B0CC0A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1AB7B-C50D-39E2-56FB-4C8DC6232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A5FC-2A02-43CB-9EAC-3182F80F8C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E167E-3BAE-BFE8-16FA-0481F4572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C8737-AC2E-BE94-B141-CB58A02B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C177-8499-44B0-AEAD-9546081BC2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7528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9AF8-DA43-27E0-52D4-AAC928117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D4E5F-3667-3C83-CFDB-707CB3859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86C610-2E2B-7A99-A92B-8A1C91BD5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F8946-6424-DA99-BC2F-EDCA5DE78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C6488A-6589-C0BB-7F53-4CCF4C690C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B943A-62DF-B6CB-3018-E059A703E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A5FC-2A02-43CB-9EAC-3182F80F8C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06C63-D413-E6D6-F886-FE8C8470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20F7B7-BC6A-BDEE-AB30-A189DCB0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C177-8499-44B0-AEAD-9546081BC2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173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6804-7345-7096-48CA-35F141F1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E0EC5A-29F3-6761-0AB4-78B1A813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A5FC-2A02-43CB-9EAC-3182F80F8C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629222-05A0-73EF-E9D9-EED560BC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27DCD-2782-9E3D-B799-37D82CF61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C177-8499-44B0-AEAD-9546081BC2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320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8D3ADF-6C5D-54AA-5A4A-5EF05370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A5FC-2A02-43CB-9EAC-3182F80F8C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8D4777-653E-34B2-FCE4-35482473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B3254-23CC-15FD-8461-686F8680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C177-8499-44B0-AEAD-9546081BC2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4821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859A-A0A2-4E13-FFBA-40AFC0F27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27505-9B06-CFE0-F0B7-7E7EC89E8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0EDDA1-3A91-A863-48C8-41B48CDAD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B5D4D-2A17-3C85-1B04-000C9AD56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A5FC-2A02-43CB-9EAC-3182F80F8C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A1994-4BEE-9E23-E850-A247A0569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C8636-E9D8-64C5-3FB8-46F8283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C177-8499-44B0-AEAD-9546081BC2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6211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FC670-E90A-B631-9D60-693AA4306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2A644A-C7CA-0C0B-AEFA-BB2A8C6537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F99A8-C5F1-E4DF-7C1C-512121917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2B5FA-2A2A-5D43-321B-45FDC6B85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A5FC-2A02-43CB-9EAC-3182F80F8C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3C9F2-1259-CDF2-B566-C70E5738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90748-5270-C519-784C-2F07BECF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C177-8499-44B0-AEAD-9546081BC2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243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3D73-9787-A00B-BF1E-ECD88826F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B39CD-B55A-CBC2-7214-EFE780B3F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A58E5-6C7A-BCC3-666B-275992FE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A5FC-2A02-43CB-9EAC-3182F80F8C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BFC3E-F17E-474E-3B75-2F3693757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7D820-D83E-A968-09E6-79FB3434A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C177-8499-44B0-AEAD-9546081BC2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097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274226-4022-ABA8-5281-E540486C7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19F584-08E7-CBB6-CC9F-BECB8CF0D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9D64C-BCC6-7054-89DC-A0CF8034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A5FC-2A02-43CB-9EAC-3182F80F8C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5D279-F1CA-7CF9-6E10-926F1F910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F546E-F410-127F-84A5-97293919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C177-8499-44B0-AEAD-9546081BC2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821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B2F37-3092-8997-AC38-74BF12DF4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C5D7C-2629-88D5-7AB3-12EB575A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F85FA-5912-1102-3CD3-8657F03F4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BA5FC-2A02-43CB-9EAC-3182F80F8C7A}" type="datetimeFigureOut">
              <a:rPr lang="en-ZA" smtClean="0"/>
              <a:t>2025/05/27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A1982-E867-56A2-71C4-F2C84960CB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E3925-BD89-8775-82A0-C8DA5FFC88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CC177-8499-44B0-AEAD-9546081BC2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737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ECE6E-2006-49B1-2154-FB24E39436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PROPOSAL WRITING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1F09F-BAF6-AB20-B696-B5468BD891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0593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FC6B3-5EF2-29CD-FA09-EC495164E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Title Page</a:t>
            </a:r>
          </a:p>
        </p:txBody>
      </p:sp>
    </p:spTree>
    <p:extLst>
      <p:ext uri="{BB962C8B-B14F-4D97-AF65-F5344CB8AC3E}">
        <p14:creationId xmlns:p14="http://schemas.microsoft.com/office/powerpoint/2010/main" val="383100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DEEC-9F07-8F3B-B67C-CBE6577FF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65"/>
            <a:ext cx="10515600" cy="834087"/>
          </a:xfrm>
        </p:spPr>
        <p:txBody>
          <a:bodyPr/>
          <a:lstStyle/>
          <a:p>
            <a:r>
              <a:rPr lang="en-ZA" dirty="0"/>
              <a:t>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1A7F2-C20F-9B9A-8649-E9F662772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4"/>
            <a:ext cx="10515600" cy="4902799"/>
          </a:xfrm>
        </p:spPr>
        <p:txBody>
          <a:bodyPr/>
          <a:lstStyle/>
          <a:p>
            <a:r>
              <a:rPr lang="en-ZA" b="1" dirty="0"/>
              <a:t>Introduction</a:t>
            </a:r>
          </a:p>
          <a:p>
            <a:r>
              <a:rPr lang="en-ZA" b="1" dirty="0"/>
              <a:t>Literature review</a:t>
            </a:r>
          </a:p>
          <a:p>
            <a:r>
              <a:rPr lang="en-ZA" b="1" dirty="0"/>
              <a:t>Methodology</a:t>
            </a:r>
          </a:p>
          <a:p>
            <a:r>
              <a:rPr lang="en-ZA" b="1" dirty="0"/>
              <a:t>Timeline</a:t>
            </a:r>
          </a:p>
          <a:p>
            <a:r>
              <a:rPr lang="en-ZA" b="1" dirty="0"/>
              <a:t>Resources and budget</a:t>
            </a:r>
          </a:p>
          <a:p>
            <a:r>
              <a:rPr lang="en-ZA" b="1" dirty="0"/>
              <a:t>References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6460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70683-21FF-A61D-8F57-388F67F65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F671-E2D0-2A6C-7F7F-FA4AD35EC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65"/>
            <a:ext cx="10515600" cy="834087"/>
          </a:xfrm>
        </p:spPr>
        <p:txBody>
          <a:bodyPr/>
          <a:lstStyle/>
          <a:p>
            <a:r>
              <a:rPr lang="en-Z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C0AA4-1988-476D-2507-BF1A5D81C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4"/>
            <a:ext cx="10515600" cy="4902799"/>
          </a:xfrm>
        </p:spPr>
        <p:txBody>
          <a:bodyPr/>
          <a:lstStyle/>
          <a:p>
            <a:r>
              <a:rPr lang="en-ZA" b="1" dirty="0"/>
              <a:t>Background</a:t>
            </a:r>
            <a:r>
              <a:rPr lang="en-ZA" dirty="0"/>
              <a:t>: Introduce the broader field </a:t>
            </a:r>
          </a:p>
          <a:p>
            <a:r>
              <a:rPr lang="en-ZA" b="1" dirty="0"/>
              <a:t>Problem statement</a:t>
            </a:r>
            <a:r>
              <a:rPr lang="en-ZA" dirty="0"/>
              <a:t>: clearly define the specific problem you aim to solve.</a:t>
            </a:r>
          </a:p>
          <a:p>
            <a:r>
              <a:rPr lang="en-ZA" b="1" dirty="0"/>
              <a:t>Motivation</a:t>
            </a:r>
            <a:r>
              <a:rPr lang="en-ZA" dirty="0"/>
              <a:t>: explain why this problem is important</a:t>
            </a:r>
          </a:p>
          <a:p>
            <a:r>
              <a:rPr lang="en-ZA" b="1" dirty="0"/>
              <a:t>Research Aim and Objectives</a:t>
            </a:r>
            <a:r>
              <a:rPr lang="en-ZA" dirty="0"/>
              <a:t>: list the key goals of your research</a:t>
            </a:r>
          </a:p>
          <a:p>
            <a:r>
              <a:rPr lang="en-ZA" b="1" dirty="0"/>
              <a:t>Research questions</a:t>
            </a:r>
            <a:r>
              <a:rPr lang="en-ZA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400168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1A9F-9339-2542-08D9-25FD76FA2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2D60-9B2F-2AC9-1BE9-F377C072A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65"/>
            <a:ext cx="10515600" cy="834087"/>
          </a:xfrm>
        </p:spPr>
        <p:txBody>
          <a:bodyPr/>
          <a:lstStyle/>
          <a:p>
            <a:r>
              <a:rPr lang="en-ZA" dirty="0"/>
              <a:t>Introduction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85D92-1059-FAC9-1ACA-8EEFF1CF2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4"/>
            <a:ext cx="10515600" cy="4902799"/>
          </a:xfrm>
        </p:spPr>
        <p:txBody>
          <a:bodyPr>
            <a:normAutofit lnSpcReduction="10000"/>
          </a:bodyPr>
          <a:lstStyle/>
          <a:p>
            <a:pPr algn="just"/>
            <a:r>
              <a:rPr lang="en-ZA" dirty="0"/>
              <a:t>This is a crucial part as it sets the stage for the problem statement. </a:t>
            </a:r>
          </a:p>
          <a:p>
            <a:pPr algn="just"/>
            <a:r>
              <a:rPr lang="en-ZA" dirty="0"/>
              <a:t>It is advisable to start from the broader topic and then narrow down to the specific.</a:t>
            </a:r>
          </a:p>
          <a:p>
            <a:pPr algn="just"/>
            <a:r>
              <a:rPr lang="en-ZA" dirty="0"/>
              <a:t>In an attempt to achieve the above, consider the following: </a:t>
            </a:r>
          </a:p>
          <a:p>
            <a:pPr lvl="1" algn="just"/>
            <a:r>
              <a:rPr lang="en-ZA" dirty="0"/>
              <a:t>Define key concepts: explain technical terms or frameworks critical to your work</a:t>
            </a:r>
          </a:p>
          <a:p>
            <a:pPr lvl="1" algn="just"/>
            <a:r>
              <a:rPr lang="en-ZA" dirty="0"/>
              <a:t>Discuss earlier solutions and their limitations: summarize the approaches (cite relevant articles) and highlight their shortcomings</a:t>
            </a:r>
          </a:p>
          <a:p>
            <a:pPr lvl="1" algn="just"/>
            <a:r>
              <a:rPr lang="en-ZA" dirty="0"/>
              <a:t>Current solutions and their limitations</a:t>
            </a:r>
          </a:p>
          <a:p>
            <a:pPr lvl="1" algn="just"/>
            <a:r>
              <a:rPr lang="en-ZA" dirty="0"/>
              <a:t>Identify the research gap: State what is missing in the current solutions. This may be a knowledge or technology gap</a:t>
            </a:r>
          </a:p>
          <a:p>
            <a:pPr lvl="1" algn="just"/>
            <a:r>
              <a:rPr lang="en-ZA" dirty="0"/>
              <a:t>Link the gap to the research problem</a:t>
            </a:r>
          </a:p>
        </p:txBody>
      </p:sp>
    </p:spTree>
    <p:extLst>
      <p:ext uri="{BB962C8B-B14F-4D97-AF65-F5344CB8AC3E}">
        <p14:creationId xmlns:p14="http://schemas.microsoft.com/office/powerpoint/2010/main" val="2196403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D5B85-D8FC-6FB7-63FB-30AACFCE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9357-5C9E-9451-A338-D2D6DDF1A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65"/>
            <a:ext cx="10515600" cy="834087"/>
          </a:xfrm>
        </p:spPr>
        <p:txBody>
          <a:bodyPr/>
          <a:lstStyle/>
          <a:p>
            <a:r>
              <a:rPr lang="en-ZA" dirty="0"/>
              <a:t>Introduction –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29C3B-08AC-0B26-43BE-3872BB0D2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4"/>
            <a:ext cx="10515600" cy="4902799"/>
          </a:xfrm>
        </p:spPr>
        <p:txBody>
          <a:bodyPr>
            <a:normAutofit/>
          </a:bodyPr>
          <a:lstStyle/>
          <a:p>
            <a:pPr algn="just"/>
            <a:r>
              <a:rPr lang="en-ZA" dirty="0"/>
              <a:t>It clearly defines the issue you are addressing and why it matters. </a:t>
            </a:r>
          </a:p>
          <a:p>
            <a:pPr algn="just"/>
            <a:r>
              <a:rPr lang="en-ZA" dirty="0"/>
              <a:t>When writing your problem statement, ensure the following questions are clearly answered </a:t>
            </a:r>
          </a:p>
          <a:p>
            <a:pPr lvl="1" algn="just"/>
            <a:r>
              <a:rPr lang="en-ZA" dirty="0"/>
              <a:t>What is the problem? Must be specific and technical</a:t>
            </a:r>
          </a:p>
          <a:p>
            <a:pPr lvl="1" algn="just"/>
            <a:r>
              <a:rPr lang="en-ZA" dirty="0"/>
              <a:t>What is/are the existing solutions?</a:t>
            </a:r>
          </a:p>
          <a:p>
            <a:pPr lvl="1" algn="just"/>
            <a:r>
              <a:rPr lang="en-ZA" dirty="0"/>
              <a:t>What is missing in the existing solutions? </a:t>
            </a:r>
          </a:p>
          <a:p>
            <a:pPr lvl="1" algn="just"/>
            <a:r>
              <a:rPr lang="en-ZA" dirty="0"/>
              <a:t>What is the impact of the above on systems/users/industry?</a:t>
            </a:r>
          </a:p>
          <a:p>
            <a:pPr lvl="1" algn="just"/>
            <a:r>
              <a:rPr lang="en-ZA" dirty="0"/>
              <a:t>What will your work address?</a:t>
            </a:r>
          </a:p>
          <a:p>
            <a:pPr algn="just"/>
            <a:r>
              <a:rPr lang="en-ZA" dirty="0"/>
              <a:t>Link this to your Aim and objectives</a:t>
            </a:r>
          </a:p>
        </p:txBody>
      </p:sp>
    </p:spTree>
    <p:extLst>
      <p:ext uri="{BB962C8B-B14F-4D97-AF65-F5344CB8AC3E}">
        <p14:creationId xmlns:p14="http://schemas.microsoft.com/office/powerpoint/2010/main" val="1369830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981AC-01AC-CBCF-3996-34B7D4170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BD9D7-3948-BEFF-D64C-25123D3C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65"/>
            <a:ext cx="10515600" cy="834087"/>
          </a:xfrm>
        </p:spPr>
        <p:txBody>
          <a:bodyPr/>
          <a:lstStyle/>
          <a:p>
            <a:r>
              <a:rPr lang="en-ZA" dirty="0"/>
              <a:t>Introduction – Aim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01B07-D8BE-DA66-9A91-364C9B23D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4"/>
            <a:ext cx="10515600" cy="4902799"/>
          </a:xfrm>
        </p:spPr>
        <p:txBody>
          <a:bodyPr>
            <a:normAutofit/>
          </a:bodyPr>
          <a:lstStyle/>
          <a:p>
            <a:pPr algn="just"/>
            <a:r>
              <a:rPr lang="en-ZA" dirty="0"/>
              <a:t>The </a:t>
            </a:r>
            <a:r>
              <a:rPr lang="en-ZA" b="1" dirty="0"/>
              <a:t>AIM</a:t>
            </a:r>
            <a:r>
              <a:rPr lang="en-ZA" dirty="0"/>
              <a:t> defines the overarching purpose of the research. The </a:t>
            </a:r>
            <a:r>
              <a:rPr lang="en-ZA" b="1" dirty="0"/>
              <a:t>OBJECTIVES</a:t>
            </a:r>
            <a:r>
              <a:rPr lang="en-ZA" dirty="0"/>
              <a:t> break down the AIM into specific and achievable steps. </a:t>
            </a:r>
          </a:p>
          <a:p>
            <a:pPr algn="just"/>
            <a:r>
              <a:rPr lang="en-ZA" dirty="0"/>
              <a:t>The </a:t>
            </a:r>
            <a:r>
              <a:rPr lang="en-ZA" b="1" dirty="0"/>
              <a:t>AIM</a:t>
            </a:r>
            <a:r>
              <a:rPr lang="en-ZA" dirty="0"/>
              <a:t> broadly answers the WHAT and HOW questions?</a:t>
            </a:r>
          </a:p>
          <a:p>
            <a:pPr algn="just"/>
            <a:r>
              <a:rPr lang="en-ZA" dirty="0"/>
              <a:t>The </a:t>
            </a:r>
            <a:r>
              <a:rPr lang="en-ZA" b="1" dirty="0"/>
              <a:t>Objectives</a:t>
            </a:r>
            <a:r>
              <a:rPr lang="en-ZA" dirty="0"/>
              <a:t> must be SMART</a:t>
            </a:r>
          </a:p>
          <a:p>
            <a:pPr lvl="1" algn="just"/>
            <a:r>
              <a:rPr lang="en-ZA" dirty="0"/>
              <a:t>Specific, </a:t>
            </a:r>
          </a:p>
          <a:p>
            <a:pPr lvl="1" algn="just"/>
            <a:r>
              <a:rPr lang="en-ZA" dirty="0"/>
              <a:t>Measurable, </a:t>
            </a:r>
          </a:p>
          <a:p>
            <a:pPr lvl="1" algn="just"/>
            <a:r>
              <a:rPr lang="en-ZA" dirty="0"/>
              <a:t>Achievable, </a:t>
            </a:r>
          </a:p>
          <a:p>
            <a:pPr lvl="1" algn="just"/>
            <a:r>
              <a:rPr lang="en-ZA" dirty="0"/>
              <a:t>Relevant and </a:t>
            </a:r>
          </a:p>
          <a:p>
            <a:pPr lvl="1" algn="just"/>
            <a:r>
              <a:rPr lang="en-ZA" dirty="0"/>
              <a:t>Time-bound</a:t>
            </a:r>
          </a:p>
        </p:txBody>
      </p:sp>
    </p:spTree>
    <p:extLst>
      <p:ext uri="{BB962C8B-B14F-4D97-AF65-F5344CB8AC3E}">
        <p14:creationId xmlns:p14="http://schemas.microsoft.com/office/powerpoint/2010/main" val="1190166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D9D22-EB28-4952-9C84-3CC9EA073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47F9B-22EA-B9FE-206C-8CC87438B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65"/>
            <a:ext cx="10515600" cy="834087"/>
          </a:xfrm>
        </p:spPr>
        <p:txBody>
          <a:bodyPr/>
          <a:lstStyle/>
          <a:p>
            <a:r>
              <a:rPr lang="en-ZA" dirty="0"/>
              <a:t>Introduction – Aim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935D0-77E2-B355-7EB0-83203828E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4"/>
            <a:ext cx="10515600" cy="4902799"/>
          </a:xfrm>
        </p:spPr>
        <p:txBody>
          <a:bodyPr>
            <a:normAutofit/>
          </a:bodyPr>
          <a:lstStyle/>
          <a:p>
            <a:pPr algn="just"/>
            <a:r>
              <a:rPr lang="en-ZA" dirty="0"/>
              <a:t>Suggested formula</a:t>
            </a:r>
          </a:p>
          <a:p>
            <a:pPr lvl="1" algn="just"/>
            <a:r>
              <a:rPr lang="en-ZA" dirty="0"/>
              <a:t>To </a:t>
            </a:r>
            <a:r>
              <a:rPr lang="en-ZA" i="1" dirty="0"/>
              <a:t>[action verb][specific task] in order to [expected outcome]</a:t>
            </a:r>
          </a:p>
          <a:p>
            <a:pPr algn="just"/>
            <a:r>
              <a:rPr lang="en-ZA" dirty="0"/>
              <a:t>Examples:</a:t>
            </a:r>
          </a:p>
          <a:p>
            <a:pPr marL="457200" lvl="1" indent="0" algn="just">
              <a:buNone/>
            </a:pPr>
            <a:r>
              <a:rPr lang="en-ZA" dirty="0"/>
              <a:t>TOPIC: IoT Hardware Security</a:t>
            </a:r>
          </a:p>
          <a:p>
            <a:pPr lvl="1" algn="just"/>
            <a:r>
              <a:rPr lang="en-ZA" dirty="0"/>
              <a:t>To investigate hardware Trojan insertion techniques in third party IP cores</a:t>
            </a:r>
          </a:p>
          <a:p>
            <a:pPr lvl="1" algn="just"/>
            <a:r>
              <a:rPr lang="en-ZA" dirty="0"/>
              <a:t>To develop a graph neural network (GNN) based anomaly detection model for Trojan identification</a:t>
            </a:r>
          </a:p>
          <a:p>
            <a:pPr lvl="1" algn="just"/>
            <a:r>
              <a:rPr lang="en-ZA" dirty="0"/>
              <a:t>To validate the model using FPGA based testing with benchmark circuits</a:t>
            </a:r>
          </a:p>
          <a:p>
            <a:pPr lvl="1" algn="just"/>
            <a:r>
              <a:rPr lang="en-ZA" dirty="0"/>
              <a:t>To compare detection accuracy against traditional methods</a:t>
            </a:r>
          </a:p>
          <a:p>
            <a:pPr algn="just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66583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09102-D18F-1070-ACB7-EEE59D96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2AA6E-5727-2EF0-2BBD-5C2BEBC6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65"/>
            <a:ext cx="10515600" cy="834087"/>
          </a:xfrm>
        </p:spPr>
        <p:txBody>
          <a:bodyPr/>
          <a:lstStyle/>
          <a:p>
            <a:r>
              <a:rPr lang="en-ZA" dirty="0"/>
              <a:t>Introduction –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A300C-913E-253F-BD90-92460A3BD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4"/>
            <a:ext cx="10515600" cy="4902799"/>
          </a:xfrm>
        </p:spPr>
        <p:txBody>
          <a:bodyPr>
            <a:normAutofit/>
          </a:bodyPr>
          <a:lstStyle/>
          <a:p>
            <a:pPr algn="just"/>
            <a:r>
              <a:rPr lang="en-ZA" dirty="0"/>
              <a:t>This guides the study by defining what you aim to answer</a:t>
            </a:r>
          </a:p>
          <a:p>
            <a:pPr algn="just"/>
            <a:r>
              <a:rPr lang="en-ZA" dirty="0"/>
              <a:t>They should be clear (focused), original (address a gap in knowledge), researchable (feasible with available methods and data), and relevant (align with problem statement and objectives)</a:t>
            </a:r>
          </a:p>
          <a:p>
            <a:pPr algn="just"/>
            <a:r>
              <a:rPr lang="en-ZA" dirty="0"/>
              <a:t>Avoid Yes/No questions</a:t>
            </a:r>
          </a:p>
          <a:p>
            <a:pPr lvl="1" algn="just"/>
            <a:r>
              <a:rPr lang="en-ZA" dirty="0"/>
              <a:t>Can GNN’s detect Trojan? Yes or No</a:t>
            </a:r>
          </a:p>
          <a:p>
            <a:pPr lvl="1" algn="just"/>
            <a:r>
              <a:rPr lang="en-ZA" dirty="0"/>
              <a:t>How effective are GNNs in detecting Trojans…? Open ended</a:t>
            </a:r>
          </a:p>
          <a:p>
            <a:pPr algn="just"/>
            <a:r>
              <a:rPr lang="en-ZA" dirty="0"/>
              <a:t>Include variables</a:t>
            </a:r>
          </a:p>
          <a:p>
            <a:pPr lvl="1" algn="just"/>
            <a:r>
              <a:rPr lang="en-ZA" dirty="0"/>
              <a:t>How effective are GNNs in detecting Trojans…?</a:t>
            </a:r>
          </a:p>
          <a:p>
            <a:pPr lvl="1" algn="just"/>
            <a:r>
              <a:rPr lang="en-ZA" dirty="0"/>
              <a:t>How does GNNs improve Trojan detection accuracy?</a:t>
            </a:r>
          </a:p>
          <a:p>
            <a:pPr algn="just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86100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A008C-C92F-57E4-D910-405227143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FC82-8D3F-6789-D997-2A0883343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65"/>
            <a:ext cx="10515600" cy="834087"/>
          </a:xfrm>
        </p:spPr>
        <p:txBody>
          <a:bodyPr/>
          <a:lstStyle/>
          <a:p>
            <a:r>
              <a:rPr lang="en-ZA" dirty="0"/>
              <a:t>Introduction –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39CA8-46B4-A95A-6B29-F60D064FF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64"/>
            <a:ext cx="10515600" cy="4902799"/>
          </a:xfrm>
        </p:spPr>
        <p:txBody>
          <a:bodyPr>
            <a:normAutofit/>
          </a:bodyPr>
          <a:lstStyle/>
          <a:p>
            <a:pPr algn="just"/>
            <a:r>
              <a:rPr lang="en-ZA" dirty="0"/>
              <a:t>Formulating questions that align with the objectives:</a:t>
            </a:r>
          </a:p>
          <a:p>
            <a:pPr lvl="1" algn="just"/>
            <a:r>
              <a:rPr lang="en-ZA" dirty="0"/>
              <a:t>What are the prevalent hardware Trojan insertion techniques in third-party IP cores? Descriptive RQ</a:t>
            </a:r>
          </a:p>
          <a:p>
            <a:pPr lvl="1" algn="just"/>
            <a:r>
              <a:rPr lang="en-ZA" dirty="0"/>
              <a:t>How do the hardware Trojan insertion techniques evade conventional detection? Descriptive RQ</a:t>
            </a:r>
          </a:p>
          <a:p>
            <a:pPr lvl="1" algn="just"/>
            <a:r>
              <a:rPr lang="en-ZA" dirty="0"/>
              <a:t>How can a Graph Neural Network (GNN) model be designed to detect hardware Trojans in IoT devices without golden reference models? Methodological RQ</a:t>
            </a:r>
          </a:p>
          <a:p>
            <a:pPr lvl="1" algn="just"/>
            <a:r>
              <a:rPr lang="en-ZA" dirty="0"/>
              <a:t>Does the proposed GNN based detection method achieve over 95% true positive rates when tested on FPGA-implemented benchmark circuits? Experimental RQ</a:t>
            </a:r>
          </a:p>
          <a:p>
            <a:pPr lvl="1" algn="just"/>
            <a:r>
              <a:rPr lang="en-ZA" dirty="0"/>
              <a:t>How does the GNN-based Trojan detection accuracy compare to traditional methods? Comparative RQ</a:t>
            </a:r>
          </a:p>
          <a:p>
            <a:pPr algn="just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9035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EEA50-B527-7007-7161-C4C391AD9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3E3B1-DC12-ECE2-64DB-EE1A2A981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NOTE </a:t>
            </a:r>
            <a:r>
              <a:rPr lang="en-ZA" dirty="0" err="1"/>
              <a:t>NOTE</a:t>
            </a:r>
            <a:r>
              <a:rPr lang="en-ZA" dirty="0"/>
              <a:t> </a:t>
            </a:r>
            <a:r>
              <a:rPr lang="en-ZA" dirty="0" err="1"/>
              <a:t>NOTE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9255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10E90-2DEA-79F8-F2DF-5FEF47D61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Research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9071F-F3D2-B5BA-278B-286C8033F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874"/>
            <a:ext cx="10515600" cy="4701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3200" dirty="0"/>
              <a:t>This is the research blue print. It defines how you will structure the investigation to answer the research question</a:t>
            </a:r>
          </a:p>
          <a:p>
            <a:pPr lvl="1"/>
            <a:r>
              <a:rPr lang="en-ZA" sz="2800" dirty="0"/>
              <a:t>Research Design (Qualitative/Quantitative/Experimental)</a:t>
            </a:r>
          </a:p>
          <a:p>
            <a:pPr lvl="1"/>
            <a:r>
              <a:rPr lang="en-ZA" sz="2800" dirty="0"/>
              <a:t>Data collection and Tools (simulators, datasets, hardware)</a:t>
            </a:r>
          </a:p>
          <a:p>
            <a:pPr lvl="1"/>
            <a:r>
              <a:rPr lang="en-ZA" sz="2800" dirty="0"/>
              <a:t>Proposed techniques/algorithms</a:t>
            </a:r>
          </a:p>
          <a:p>
            <a:pPr lvl="1"/>
            <a:r>
              <a:rPr lang="en-ZA" sz="2800" dirty="0"/>
              <a:t>Implentation</a:t>
            </a:r>
          </a:p>
          <a:p>
            <a:pPr lvl="1"/>
            <a:r>
              <a:rPr lang="en-ZA" sz="2800" dirty="0"/>
              <a:t>Evaluation (metrics) and Validation strategy</a:t>
            </a:r>
          </a:p>
          <a:p>
            <a:pPr lvl="1"/>
            <a:r>
              <a:rPr lang="en-ZA" sz="2800" dirty="0"/>
              <a:t>Ethical consideration</a:t>
            </a:r>
          </a:p>
        </p:txBody>
      </p:sp>
    </p:spTree>
    <p:extLst>
      <p:ext uri="{BB962C8B-B14F-4D97-AF65-F5344CB8AC3E}">
        <p14:creationId xmlns:p14="http://schemas.microsoft.com/office/powerpoint/2010/main" val="3393471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CD777-185B-8454-6B2F-03EA104F1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554F0-3478-FF1E-D246-B37ABA370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747"/>
            <a:ext cx="10515600" cy="1030537"/>
          </a:xfrm>
        </p:spPr>
        <p:txBody>
          <a:bodyPr/>
          <a:lstStyle/>
          <a:p>
            <a:r>
              <a:rPr lang="en-ZA" dirty="0"/>
              <a:t>Research Methodology - Research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1A06D-B3A1-35D4-4330-CD49D56B2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874"/>
            <a:ext cx="10515600" cy="4701089"/>
          </a:xfrm>
        </p:spPr>
        <p:txBody>
          <a:bodyPr/>
          <a:lstStyle/>
          <a:p>
            <a:pPr marL="0" indent="0">
              <a:buNone/>
            </a:pPr>
            <a:r>
              <a:rPr lang="en-ZA" sz="3200" dirty="0"/>
              <a:t>The research design defines how data will be gathered and analysed. </a:t>
            </a:r>
          </a:p>
          <a:p>
            <a:pPr marL="0" indent="0">
              <a:buNone/>
            </a:pPr>
            <a:r>
              <a:rPr lang="en-ZA" sz="3200" dirty="0"/>
              <a:t>There are three common approaches:</a:t>
            </a:r>
          </a:p>
          <a:p>
            <a:r>
              <a:rPr lang="en-ZA" sz="3200" dirty="0"/>
              <a:t>Quantitative Research Approach</a:t>
            </a:r>
          </a:p>
          <a:p>
            <a:r>
              <a:rPr lang="en-ZA" sz="3200" dirty="0"/>
              <a:t>Experimental Approach</a:t>
            </a:r>
          </a:p>
          <a:p>
            <a:r>
              <a:rPr lang="en-ZA" sz="3200" dirty="0"/>
              <a:t>Simulation Based Approach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64002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11D32-AD78-7C9A-B350-5113BBB7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C41F-E42D-073E-3833-32443E0C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747"/>
            <a:ext cx="10515600" cy="1030537"/>
          </a:xfrm>
        </p:spPr>
        <p:txBody>
          <a:bodyPr/>
          <a:lstStyle/>
          <a:p>
            <a:r>
              <a:rPr lang="en-ZA" dirty="0"/>
              <a:t>Research Methodology - Research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5E7D2-8A50-71EC-9112-7A17A78FC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25679"/>
          </a:xfrm>
        </p:spPr>
        <p:txBody>
          <a:bodyPr/>
          <a:lstStyle/>
          <a:p>
            <a:pPr marL="0" indent="0">
              <a:buNone/>
            </a:pPr>
            <a:r>
              <a:rPr lang="en-ZA" sz="3200" dirty="0"/>
              <a:t>Quantitative Research Approach:</a:t>
            </a:r>
          </a:p>
          <a:p>
            <a:pPr marL="0" indent="0">
              <a:buNone/>
            </a:pPr>
            <a:r>
              <a:rPr lang="en-ZA" sz="3200" dirty="0"/>
              <a:t>This is used when the research involves measuring data (numbers) to </a:t>
            </a:r>
            <a:r>
              <a:rPr lang="en-ZA" sz="3200" dirty="0" err="1"/>
              <a:t>analyze</a:t>
            </a:r>
            <a:r>
              <a:rPr lang="en-ZA" sz="3200" dirty="0"/>
              <a:t> patterns or validate models. </a:t>
            </a:r>
          </a:p>
          <a:p>
            <a:pPr marL="0" indent="0">
              <a:buNone/>
            </a:pPr>
            <a:r>
              <a:rPr lang="en-ZA" sz="3200" dirty="0"/>
              <a:t>This can be used when:</a:t>
            </a:r>
          </a:p>
          <a:p>
            <a:pPr lvl="1"/>
            <a:r>
              <a:rPr lang="en-ZA" sz="2800" dirty="0"/>
              <a:t>Testing algorithm performance (accuracy, latency…)</a:t>
            </a:r>
          </a:p>
          <a:p>
            <a:pPr lvl="1"/>
            <a:r>
              <a:rPr lang="en-ZA" sz="2800" dirty="0"/>
              <a:t>Comparing systems (energy efficiency of two schedulers)</a:t>
            </a:r>
          </a:p>
          <a:p>
            <a:pPr lvl="1"/>
            <a:r>
              <a:rPr lang="en-ZA" sz="2800" dirty="0"/>
              <a:t>Statistical analysis (detection rates)</a:t>
            </a:r>
          </a:p>
          <a:p>
            <a:pPr marL="0" indent="0">
              <a:buNone/>
            </a:pP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434132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F5959-7D55-F6F8-CC42-7AF782CCA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38C3-DE3C-E0B5-352C-67ECE29F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747"/>
            <a:ext cx="10515600" cy="1030537"/>
          </a:xfrm>
        </p:spPr>
        <p:txBody>
          <a:bodyPr/>
          <a:lstStyle/>
          <a:p>
            <a:r>
              <a:rPr lang="en-ZA" dirty="0"/>
              <a:t>Research Methodology - Research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DE862-1E05-0DDD-EDFC-AD9A14A9C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25679"/>
          </a:xfrm>
        </p:spPr>
        <p:txBody>
          <a:bodyPr/>
          <a:lstStyle/>
          <a:p>
            <a:pPr marL="0" indent="0">
              <a:buNone/>
            </a:pPr>
            <a:r>
              <a:rPr lang="en-ZA" sz="3200" dirty="0"/>
              <a:t>Experimental Research Approach:</a:t>
            </a:r>
          </a:p>
          <a:p>
            <a:pPr marL="0" indent="0">
              <a:buNone/>
            </a:pPr>
            <a:r>
              <a:rPr lang="en-ZA" sz="3200" dirty="0"/>
              <a:t>This is used for tests in controlled or real-world environments using hardware/software setups. </a:t>
            </a:r>
          </a:p>
          <a:p>
            <a:pPr marL="0" indent="0">
              <a:buNone/>
            </a:pPr>
            <a:r>
              <a:rPr lang="en-ZA" sz="3200" dirty="0"/>
              <a:t>This can be used when:</a:t>
            </a:r>
          </a:p>
          <a:p>
            <a:pPr lvl="1"/>
            <a:r>
              <a:rPr lang="en-ZA" sz="2800" dirty="0"/>
              <a:t>Validating hardware design</a:t>
            </a:r>
          </a:p>
          <a:p>
            <a:pPr lvl="1"/>
            <a:r>
              <a:rPr lang="en-ZA" sz="2800" dirty="0"/>
              <a:t>Measure real-system performance (Robot response time)</a:t>
            </a:r>
          </a:p>
          <a:p>
            <a:pPr lvl="1"/>
            <a:r>
              <a:rPr lang="en-ZA" sz="2800" dirty="0"/>
              <a:t>Cybersecurity testing (penetration testing)</a:t>
            </a:r>
          </a:p>
          <a:p>
            <a:pPr marL="0" indent="0">
              <a:buNone/>
            </a:pP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104211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73E8F-36E9-1FC1-7B2A-F58CB720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717B4-6CF0-8569-B7FC-7E4698FA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747"/>
            <a:ext cx="10515600" cy="1030537"/>
          </a:xfrm>
        </p:spPr>
        <p:txBody>
          <a:bodyPr/>
          <a:lstStyle/>
          <a:p>
            <a:r>
              <a:rPr lang="en-ZA" dirty="0"/>
              <a:t>Research Methodology - Research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17001-7C5C-AF7B-AF03-430D4FE02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25679"/>
          </a:xfrm>
        </p:spPr>
        <p:txBody>
          <a:bodyPr/>
          <a:lstStyle/>
          <a:p>
            <a:pPr marL="0" indent="0">
              <a:buNone/>
            </a:pPr>
            <a:r>
              <a:rPr lang="en-ZA" sz="3200" dirty="0"/>
              <a:t>Simulation-Based Research Approach:</a:t>
            </a:r>
          </a:p>
          <a:p>
            <a:pPr marL="0" indent="0">
              <a:buNone/>
            </a:pPr>
            <a:r>
              <a:rPr lang="en-ZA" sz="3200" dirty="0"/>
              <a:t>This is used to model systems computationally when real experiments are costly/infeasible. </a:t>
            </a:r>
          </a:p>
          <a:p>
            <a:pPr marL="0" indent="0">
              <a:buNone/>
            </a:pPr>
            <a:r>
              <a:rPr lang="en-ZA" sz="3200" dirty="0"/>
              <a:t>This can be used when:</a:t>
            </a:r>
          </a:p>
          <a:p>
            <a:pPr lvl="1"/>
            <a:r>
              <a:rPr lang="en-ZA" sz="2800" dirty="0"/>
              <a:t>Large Scale networks</a:t>
            </a:r>
          </a:p>
          <a:p>
            <a:pPr lvl="1"/>
            <a:r>
              <a:rPr lang="en-ZA" sz="2800" dirty="0"/>
              <a:t>Chip design</a:t>
            </a:r>
          </a:p>
          <a:p>
            <a:pPr lvl="1"/>
            <a:r>
              <a:rPr lang="en-ZA" sz="2800" dirty="0"/>
              <a:t>Complex algorithm testing</a:t>
            </a:r>
          </a:p>
          <a:p>
            <a:pPr marL="0" indent="0">
              <a:buNone/>
            </a:pP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1474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AE5DF-4C79-176D-6938-76CBE58F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FACE-F74E-B2CF-438F-897900DC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747"/>
            <a:ext cx="10515600" cy="1030537"/>
          </a:xfrm>
        </p:spPr>
        <p:txBody>
          <a:bodyPr>
            <a:normAutofit fontScale="90000"/>
          </a:bodyPr>
          <a:lstStyle/>
          <a:p>
            <a:r>
              <a:rPr lang="en-ZA" dirty="0"/>
              <a:t>Data Collection and Testing – 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5B476-C927-4F62-6C01-4C4275728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51304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ZA" sz="3200" dirty="0"/>
              <a:t>Data Sources</a:t>
            </a:r>
          </a:p>
          <a:p>
            <a:pPr lvl="1"/>
            <a:r>
              <a:rPr lang="en-ZA" sz="2800" dirty="0"/>
              <a:t>Primary data: collected by you</a:t>
            </a:r>
          </a:p>
          <a:p>
            <a:pPr lvl="1"/>
            <a:r>
              <a:rPr lang="en-ZA" sz="2800" dirty="0"/>
              <a:t>Secondary data: Existing datasets</a:t>
            </a:r>
          </a:p>
          <a:p>
            <a:pPr lvl="1"/>
            <a:r>
              <a:rPr lang="en-ZA" sz="2800" dirty="0"/>
              <a:t>Synthetic data: Generated via simulation</a:t>
            </a:r>
          </a:p>
          <a:p>
            <a:pPr marL="0" indent="0">
              <a:buNone/>
            </a:pPr>
            <a:r>
              <a:rPr lang="en-ZA" sz="3200" dirty="0"/>
              <a:t>Tools and Instruments</a:t>
            </a:r>
          </a:p>
          <a:p>
            <a:pPr lvl="1"/>
            <a:r>
              <a:rPr lang="en-ZA" sz="2800" dirty="0"/>
              <a:t>Hardware: Oscilloscopes, IoT devices</a:t>
            </a:r>
          </a:p>
          <a:p>
            <a:pPr lvl="1"/>
            <a:r>
              <a:rPr lang="en-ZA" sz="2800" dirty="0"/>
              <a:t>Software: Simulators</a:t>
            </a:r>
          </a:p>
          <a:p>
            <a:pPr lvl="1"/>
            <a:r>
              <a:rPr lang="en-ZA" sz="2800" dirty="0"/>
              <a:t>Datasets: public or private repositories</a:t>
            </a:r>
          </a:p>
          <a:p>
            <a:pPr marL="0" indent="0">
              <a:buNone/>
            </a:pPr>
            <a:r>
              <a:rPr lang="en-ZA" sz="3200" dirty="0"/>
              <a:t>Variables</a:t>
            </a:r>
          </a:p>
          <a:p>
            <a:pPr lvl="1"/>
            <a:r>
              <a:rPr lang="en-ZA" sz="2800" dirty="0"/>
              <a:t>Independent: Inputs you control (workload size, attack types)</a:t>
            </a:r>
          </a:p>
          <a:p>
            <a:pPr lvl="1"/>
            <a:r>
              <a:rPr lang="en-ZA" sz="2800" dirty="0"/>
              <a:t>Dependent: Outputs you measure (latency, detection accuracy)</a:t>
            </a:r>
            <a:endParaRPr lang="en-ZA" dirty="0"/>
          </a:p>
          <a:p>
            <a:pPr marL="0" indent="0">
              <a:buNone/>
            </a:pP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1763214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24052-1683-F30D-B7D7-1A2C7008B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7B0D-6A75-6597-D62F-9507A6C6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0747"/>
            <a:ext cx="10744200" cy="1030537"/>
          </a:xfrm>
        </p:spPr>
        <p:txBody>
          <a:bodyPr>
            <a:normAutofit fontScale="90000"/>
          </a:bodyPr>
          <a:lstStyle/>
          <a:p>
            <a:r>
              <a:rPr lang="en-ZA" dirty="0"/>
              <a:t>Research Methodology – Proposed Techniques and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2F458-C723-A596-8FFD-12DB4D90B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0334"/>
            <a:ext cx="10896600" cy="51304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ZA" sz="3200" dirty="0"/>
              <a:t>This presents the detail on how the problem will be addressed.</a:t>
            </a:r>
          </a:p>
          <a:p>
            <a:pPr marL="0" indent="0">
              <a:buNone/>
            </a:pPr>
            <a:r>
              <a:rPr lang="en-ZA" sz="3200" dirty="0"/>
              <a:t>This should include:</a:t>
            </a:r>
          </a:p>
          <a:p>
            <a:r>
              <a:rPr lang="en-ZA" sz="3200" dirty="0"/>
              <a:t>Algorithm or model selection</a:t>
            </a:r>
          </a:p>
          <a:p>
            <a:pPr lvl="1"/>
            <a:r>
              <a:rPr lang="en-ZA" sz="2800" dirty="0"/>
              <a:t>What is the name of the algorithm?</a:t>
            </a:r>
          </a:p>
          <a:p>
            <a:pPr lvl="1"/>
            <a:r>
              <a:rPr lang="en-ZA" sz="2800" dirty="0"/>
              <a:t>Is it in existence? Or it is a modified version or new?</a:t>
            </a:r>
          </a:p>
          <a:p>
            <a:pPr lvl="1"/>
            <a:r>
              <a:rPr lang="en-ZA" sz="2800" dirty="0"/>
              <a:t>What is the technical basis? (equations /pseudocode)</a:t>
            </a:r>
          </a:p>
          <a:p>
            <a:r>
              <a:rPr lang="en-ZA" sz="3200" dirty="0"/>
              <a:t>Workflow steps: Explains the step by step execution of the method</a:t>
            </a:r>
          </a:p>
          <a:p>
            <a:r>
              <a:rPr lang="en-ZA" sz="3200" dirty="0"/>
              <a:t>Innovation and Novelty: Describe how the use of this algorithm differs from the previous use. 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1402660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5AA57-1332-836A-8448-A87CE43DB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5A3B-4BF0-A0CB-86BC-AC3653582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0747"/>
            <a:ext cx="10744200" cy="1030537"/>
          </a:xfrm>
        </p:spPr>
        <p:txBody>
          <a:bodyPr>
            <a:normAutofit/>
          </a:bodyPr>
          <a:lstStyle/>
          <a:p>
            <a:r>
              <a:rPr lang="en-ZA" dirty="0"/>
              <a:t>Research Methodology –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60A22-ACB6-025A-815E-59E910CA5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0334"/>
            <a:ext cx="10896600" cy="51304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3200" dirty="0"/>
              <a:t>How do you intend to implement the model?</a:t>
            </a:r>
          </a:p>
          <a:p>
            <a:pPr marL="0" indent="0">
              <a:buNone/>
            </a:pPr>
            <a:r>
              <a:rPr lang="en-ZA" sz="3200" dirty="0"/>
              <a:t>What tools (hardware/software) will be used for the implementation?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10649527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50F90-928E-967C-4396-35B33296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508F4-5128-3D66-096C-4BA124442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0747"/>
            <a:ext cx="10744200" cy="1030537"/>
          </a:xfrm>
        </p:spPr>
        <p:txBody>
          <a:bodyPr>
            <a:normAutofit fontScale="90000"/>
          </a:bodyPr>
          <a:lstStyle/>
          <a:p>
            <a:r>
              <a:rPr lang="en-ZA" dirty="0"/>
              <a:t>Research Methodology – Evaluation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DEDDD-E535-BCE4-D0FD-C5CEEF523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0334"/>
            <a:ext cx="10896600" cy="51304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3200" dirty="0"/>
              <a:t>Evaluation assess the performance, quality or effectiveness based on a criteria</a:t>
            </a:r>
          </a:p>
          <a:p>
            <a:pPr marL="0" indent="0">
              <a:buNone/>
            </a:pPr>
            <a:r>
              <a:rPr lang="en-ZA" sz="3200" dirty="0"/>
              <a:t>Validation checks whether the system meets the original goals, requirements or real world needs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650314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74A7-0289-F486-B861-E4A59854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Expected Outcomes and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A18E5-4622-FF67-185E-3F6A3844F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What will be the outcome and contribution of the research</a:t>
            </a:r>
          </a:p>
        </p:txBody>
      </p:sp>
    </p:spTree>
    <p:extLst>
      <p:ext uri="{BB962C8B-B14F-4D97-AF65-F5344CB8AC3E}">
        <p14:creationId xmlns:p14="http://schemas.microsoft.com/office/powerpoint/2010/main" val="12385589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EDC9-5D72-E189-1C58-FE62227EC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325"/>
          </a:xfrm>
        </p:spPr>
        <p:txBody>
          <a:bodyPr>
            <a:normAutofit fontScale="90000"/>
          </a:bodyPr>
          <a:lstStyle/>
          <a:p>
            <a:r>
              <a:rPr lang="en-ZA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F358A-69A2-CD40-3CB1-4AEC46A7B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235075"/>
            <a:ext cx="3333750" cy="4351338"/>
          </a:xfrm>
        </p:spPr>
        <p:txBody>
          <a:bodyPr/>
          <a:lstStyle/>
          <a:p>
            <a:r>
              <a:rPr lang="en-ZA" dirty="0"/>
              <a:t>Consider each of the major tasks in a logical order and determine how long it will take to achieve each task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F78CBF-86A8-CA80-4D5D-E05AABF3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1" y="723901"/>
            <a:ext cx="7702549" cy="5776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6586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5D54-D0B6-2F30-5DD4-3F014418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Resources and 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7FBBB-5658-6773-5D52-0089FA7EA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What resources are needed for the research and how much will they cost. </a:t>
            </a:r>
          </a:p>
        </p:txBody>
      </p:sp>
    </p:spTree>
    <p:extLst>
      <p:ext uri="{BB962C8B-B14F-4D97-AF65-F5344CB8AC3E}">
        <p14:creationId xmlns:p14="http://schemas.microsoft.com/office/powerpoint/2010/main" val="2312643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B3EDB-AC88-B275-844A-2FCD4520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50D46-13D9-40C2-BC19-5B4AFE29E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1496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1658</TotalTime>
  <Words>1090</Words>
  <Application>Microsoft Office PowerPoint</Application>
  <PresentationFormat>Widescreen</PresentationFormat>
  <Paragraphs>151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PROPOSAL WRITING</vt:lpstr>
      <vt:lpstr>Title Page</vt:lpstr>
      <vt:lpstr>Proposal</vt:lpstr>
      <vt:lpstr>Introduction</vt:lpstr>
      <vt:lpstr>Introduction - Background</vt:lpstr>
      <vt:lpstr>Introduction – Problem Statement</vt:lpstr>
      <vt:lpstr>Introduction – Aim and Objectives</vt:lpstr>
      <vt:lpstr>Introduction – Aim and Objectives</vt:lpstr>
      <vt:lpstr>Introduction – Research Questions</vt:lpstr>
      <vt:lpstr>Introduction – Research Questions</vt:lpstr>
      <vt:lpstr>Literature Review</vt:lpstr>
      <vt:lpstr>Research Methodology</vt:lpstr>
      <vt:lpstr>Research Methodology - Research Approach</vt:lpstr>
      <vt:lpstr>Research Methodology - Research Approach</vt:lpstr>
      <vt:lpstr>Research Methodology - Research Approach</vt:lpstr>
      <vt:lpstr>Research Methodology - Research Approach</vt:lpstr>
      <vt:lpstr>Data Collection and Testing – Key Components</vt:lpstr>
      <vt:lpstr>Research Methodology – Proposed Techniques and algorithms</vt:lpstr>
      <vt:lpstr>Research Methodology – Implementation</vt:lpstr>
      <vt:lpstr>Research Methodology – Evaluation and Testing</vt:lpstr>
      <vt:lpstr>Expected Outcomes and Contributions</vt:lpstr>
      <vt:lpstr>Timeline</vt:lpstr>
      <vt:lpstr>Resources and Budget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Moses Olaifa</dc:creator>
  <cp:lastModifiedBy>Moses Olaifa</cp:lastModifiedBy>
  <cp:revision>58</cp:revision>
  <dcterms:created xsi:type="dcterms:W3CDTF">2025-05-23T17:27:28Z</dcterms:created>
  <dcterms:modified xsi:type="dcterms:W3CDTF">2025-05-27T07:25:39Z</dcterms:modified>
</cp:coreProperties>
</file>